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77" r:id="rId4"/>
    <p:sldId id="262" r:id="rId6"/>
    <p:sldId id="502" r:id="rId7"/>
    <p:sldId id="261" r:id="rId8"/>
    <p:sldId id="503" r:id="rId9"/>
    <p:sldId id="267" r:id="rId10"/>
    <p:sldId id="500" r:id="rId11"/>
    <p:sldId id="50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扬扬" initials="扬" lastIdx="0" clrIdx="0"/>
  <p:cmAuthor id="2" name="8613809896080" initials="8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B7BF"/>
    <a:srgbClr val="F7BFC7"/>
    <a:srgbClr val="F7BFAC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D5D866-21FD-475E-8EC7-EAEDDA05492D}" styleName="{96a5a69e-e2c1-4257-9d08-7c964cdb7bb0}">
    <a:wholeTbl>
      <a:tcTxStyle>
        <a:fontRef idx="none">
          <a:prstClr val="black"/>
        </a:fontRef>
      </a:tcTxStyle>
      <a:tcStyle>
        <a:tcBdr>
          <a:left>
            <a:ln w="9525" cmpd="sng">
              <a:solidFill>
                <a:srgbClr val="E4E4E4"/>
              </a:solidFill>
            </a:ln>
          </a:left>
          <a:right>
            <a:ln w="9525" cmpd="sng">
              <a:solidFill>
                <a:srgbClr val="E4E4E4"/>
              </a:solidFill>
            </a:ln>
          </a:right>
          <a:top>
            <a:ln w="9525" cmpd="sng">
              <a:solidFill>
                <a:srgbClr val="E4E4E4"/>
              </a:solidFill>
            </a:ln>
          </a:top>
          <a:bottom>
            <a:ln w="9525" cmpd="sng">
              <a:solidFill>
                <a:srgbClr val="E4E4E4"/>
              </a:solidFill>
            </a:ln>
          </a:bottom>
          <a:insideH>
            <a:ln w="9525" cmpd="sng">
              <a:solidFill>
                <a:srgbClr val="E4E4E4"/>
              </a:solidFill>
            </a:ln>
          </a:insideH>
          <a:insideV>
            <a:ln w="9525" cmpd="sng">
              <a:solidFill>
                <a:srgbClr val="E4E4E4"/>
              </a:solidFill>
            </a:ln>
          </a:insideV>
        </a:tcBdr>
        <a:fill>
          <a:solidFill>
            <a:srgbClr val="FFFFFF"/>
          </a:solidFill>
        </a:fill>
      </a:tcStyle>
    </a:wholeTbl>
    <a:lastRow>
      <a:tcTxStyle>
        <a:fontRef idx="none">
          <a:prstClr val="black"/>
        </a:fontRef>
      </a:tcTxStyle>
      <a:tcStyle>
        <a:tcBdr>
          <a:top>
            <a:ln w="28575" cmpd="sng">
              <a:solidFill>
                <a:srgbClr val="4684D3"/>
              </a:solidFill>
            </a:ln>
          </a:top>
        </a:tcBdr>
        <a:fill>
          <a:solidFill>
            <a:srgbClr val="EEEEEE"/>
          </a:solidFill>
        </a:fill>
      </a:tcStyle>
    </a:lastRow>
    <a:firstRow>
      <a:tcTxStyle>
        <a:fontRef idx="none">
          <a:prstClr val="black"/>
        </a:fontRef>
      </a:tcTxStyle>
      <a:tcStyle>
        <a:tcBdr>
          <a:left>
            <a:ln w="9525" cmpd="sng">
              <a:solidFill>
                <a:srgbClr val="E4E4E4"/>
              </a:solidFill>
            </a:ln>
          </a:left>
          <a:right>
            <a:ln w="9525" cmpd="sng">
              <a:solidFill>
                <a:srgbClr val="E4E4E4"/>
              </a:solidFill>
            </a:ln>
          </a:right>
          <a:top>
            <a:ln w="9525" cmpd="sng">
              <a:solidFill>
                <a:srgbClr val="E4E4E4"/>
              </a:solidFill>
            </a:ln>
          </a:top>
          <a:bottom>
            <a:ln w="9525" cmpd="sng">
              <a:solidFill>
                <a:srgbClr val="E4E4E4"/>
              </a:solidFill>
            </a:ln>
          </a:bottom>
          <a:insideH>
            <a:ln w="9525" cmpd="sng">
              <a:solidFill>
                <a:srgbClr val="E4E4E4"/>
              </a:solidFill>
            </a:ln>
          </a:insideH>
          <a:insideV>
            <a:ln w="9525" cmpd="sng">
              <a:solidFill>
                <a:srgbClr val="E4E4E4"/>
              </a:solidFill>
            </a:ln>
          </a:insideV>
        </a:tcBdr>
        <a:fill>
          <a:solidFill>
            <a:srgbClr val="4684D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29" d="100"/>
          <a:sy n="129" d="100"/>
        </p:scale>
        <p:origin x="106" y="130"/>
      </p:cViewPr>
      <p:guideLst>
        <p:guide orient="horz" pos="2226"/>
        <p:guide pos="384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198800" y="914400"/>
            <a:ext cx="9798840" cy="2570040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anchor="ctr">
            <a:noAutofit/>
          </a:bodyPr>
          <a:lstStyle/>
          <a:p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Noto Sans CJK S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E9A3E6F-0538-4272-87CB-7A279D293A6E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ags" Target="../tags/tag57.xml"/><Relationship Id="rId14" Type="http://schemas.openxmlformats.org/officeDocument/2006/relationships/tags" Target="../tags/tag58.xml"/><Relationship Id="rId15" Type="http://schemas.openxmlformats.org/officeDocument/2006/relationships/tags" Target="../tags/tag59.xml"/><Relationship Id="rId16" Type="http://schemas.openxmlformats.org/officeDocument/2006/relationships/tags" Target="../tags/tag60.xml"/><Relationship Id="rId17" Type="http://schemas.openxmlformats.org/officeDocument/2006/relationships/tags" Target="../tags/tag61.xml"/><Relationship Id="rId18" Type="http://schemas.openxmlformats.org/officeDocument/2006/relationships/tags" Target="../tags/tag62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image" Target="../media/image1.png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image" Target="../media/image2.jpeg"/><Relationship Id="rId6" Type="http://schemas.openxmlformats.org/officeDocument/2006/relationships/tags" Target="../tags/tag66.xml"/><Relationship Id="rId7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image" Target="../media/image3.png"/><Relationship Id="rId3" Type="http://schemas.openxmlformats.org/officeDocument/2006/relationships/tags" Target="../tags/tag68.xml"/><Relationship Id="rId4" Type="http://schemas.openxmlformats.org/officeDocument/2006/relationships/tags" Target="../tags/tag69.xml"/><Relationship Id="rId5" Type="http://schemas.openxmlformats.org/officeDocument/2006/relationships/tags" Target="../tags/tag70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image" Target="../media/image1.png"/><Relationship Id="rId3" Type="http://schemas.openxmlformats.org/officeDocument/2006/relationships/tags" Target="../tags/tag72.xml"/><Relationship Id="rId4" Type="http://schemas.openxmlformats.org/officeDocument/2006/relationships/tags" Target="../tags/tag73.xml"/><Relationship Id="rId5" Type="http://schemas.openxmlformats.org/officeDocument/2006/relationships/tags" Target="../tags/tag74.xml"/><Relationship Id="rId6" Type="http://schemas.openxmlformats.org/officeDocument/2006/relationships/tags" Target="../tags/tag75.xml"/><Relationship Id="rId7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image" Target="../media/image3.png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image" Target="../media/image2.jpeg"/><Relationship Id="rId6" Type="http://schemas.openxmlformats.org/officeDocument/2006/relationships/tags" Target="../tags/tag79.xml"/><Relationship Id="rId7" Type="http://schemas.openxmlformats.org/officeDocument/2006/relationships/tags" Target="../tags/tag80.xml"/><Relationship Id="rId8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81.xml"/><Relationship Id="rId2" Type="http://schemas.openxmlformats.org/officeDocument/2006/relationships/image" Target="../media/image1.png"/><Relationship Id="rId3" Type="http://schemas.openxmlformats.org/officeDocument/2006/relationships/tags" Target="../tags/tag82.xml"/><Relationship Id="rId4" Type="http://schemas.openxmlformats.org/officeDocument/2006/relationships/tags" Target="../tags/tag83.xml"/><Relationship Id="rId5" Type="http://schemas.openxmlformats.org/officeDocument/2006/relationships/tags" Target="../tags/tag84.xml"/><Relationship Id="rId6" Type="http://schemas.openxmlformats.org/officeDocument/2006/relationships/tags" Target="../tags/tag85.xml"/><Relationship Id="rId7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86.xml"/><Relationship Id="rId2" Type="http://schemas.openxmlformats.org/officeDocument/2006/relationships/image" Target="../media/image3.png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image" Target="../media/image2.jpeg"/><Relationship Id="rId6" Type="http://schemas.openxmlformats.org/officeDocument/2006/relationships/tags" Target="../tags/tag89.xml"/><Relationship Id="rId7" Type="http://schemas.openxmlformats.org/officeDocument/2006/relationships/tags" Target="../tags/tag90.xml"/><Relationship Id="rId8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91.xml"/><Relationship Id="rId2" Type="http://schemas.openxmlformats.org/officeDocument/2006/relationships/image" Target="../media/image1.png"/><Relationship Id="rId3" Type="http://schemas.openxmlformats.org/officeDocument/2006/relationships/tags" Target="../tags/tag92.xml"/><Relationship Id="rId4" Type="http://schemas.openxmlformats.org/officeDocument/2006/relationships/tags" Target="../tags/tag93.xml"/><Relationship Id="rId5" Type="http://schemas.openxmlformats.org/officeDocument/2006/relationships/tags" Target="../tags/tag94.xml"/><Relationship Id="rId6" Type="http://schemas.openxmlformats.org/officeDocument/2006/relationships/tags" Target="../tags/tag95.xml"/><Relationship Id="rId7" Type="http://schemas.openxmlformats.org/officeDocument/2006/relationships/tags" Target="../tags/tag96.xml"/><Relationship Id="rId8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7.xml"/><Relationship Id="rId2" Type="http://schemas.openxmlformats.org/officeDocument/2006/relationships/image" Target="../media/image3.png"/><Relationship Id="rId3" Type="http://schemas.openxmlformats.org/officeDocument/2006/relationships/tags" Target="../tags/tag98.xml"/><Relationship Id="rId4" Type="http://schemas.openxmlformats.org/officeDocument/2006/relationships/tags" Target="../tags/tag99.xml"/><Relationship Id="rId5" Type="http://schemas.openxmlformats.org/officeDocument/2006/relationships/image" Target="../media/image2.jpeg"/><Relationship Id="rId6" Type="http://schemas.openxmlformats.org/officeDocument/2006/relationships/tags" Target="../tags/tag100.xml"/><Relationship Id="rId7" Type="http://schemas.openxmlformats.org/officeDocument/2006/relationships/tags" Target="../tags/tag101.xml"/><Relationship Id="rId8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02.xml"/><Relationship Id="rId2" Type="http://schemas.openxmlformats.org/officeDocument/2006/relationships/tags" Target="../tags/tag103.xml"/><Relationship Id="rId3" Type="http://schemas.openxmlformats.org/officeDocument/2006/relationships/image" Target="../media/image4.png"/><Relationship Id="rId4" Type="http://schemas.openxmlformats.org/officeDocument/2006/relationships/image" Target="../media/image2.jpeg"/><Relationship Id="rId5" Type="http://schemas.openxmlformats.org/officeDocument/2006/relationships/tags" Target="../tags/tag104.xml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形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0" y="-15875"/>
            <a:ext cx="12204700" cy="5259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文本框 9"/>
          <p:cNvSpPr txBox="1"/>
          <p:nvPr>
            <p:custDataLst>
              <p:tags r:id="rId3"/>
            </p:custDataLst>
          </p:nvPr>
        </p:nvSpPr>
        <p:spPr>
          <a:xfrm>
            <a:off x="3490913" y="2881313"/>
            <a:ext cx="8229600" cy="21209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zh-CN" altLang="zh-CN" sz="4800" b="1" dirty="0">
              <a:solidFill>
                <a:srgbClr val="16468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zh-CN" altLang="zh-CN" sz="44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广东</a:t>
            </a:r>
            <a:r>
              <a:rPr lang="zh-CN" altLang="en-US" sz="44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省人</a:t>
            </a:r>
            <a:r>
              <a:rPr lang="zh-CN" altLang="zh-CN" sz="44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智研究院工作例会</a:t>
            </a:r>
            <a:endParaRPr lang="zh-CN" altLang="zh-CN" sz="4400" b="1" dirty="0">
              <a:solidFill>
                <a:srgbClr val="16468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48" name="文本框 5"/>
          <p:cNvSpPr txBox="1"/>
          <p:nvPr>
            <p:custDataLst>
              <p:tags r:id="rId4"/>
            </p:custDataLst>
          </p:nvPr>
        </p:nvSpPr>
        <p:spPr>
          <a:xfrm>
            <a:off x="4545013" y="4724400"/>
            <a:ext cx="5259387" cy="14271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  <a:sym typeface="微软雅黑" panose="020B0503020204020204" charset="-122"/>
              </a:rPr>
              <a:t>5月份第4周</a:t>
            </a:r>
            <a:endParaRPr lang="zh-CN" altLang="en-US" sz="2800" b="1" dirty="0">
              <a:solidFill>
                <a:srgbClr val="16468D"/>
              </a:solidFill>
              <a:latin typeface="楷体" panose="02010609060101010101" pitchFamily="49" charset="-122"/>
              <a:ea typeface="楷体" panose="02010609060101010101" pitchFamily="49" charset="-122"/>
              <a:sym typeface="微软雅黑" panose="020B0503020204020204" charset="-122"/>
            </a:endParaRPr>
          </a:p>
          <a:p>
            <a:pPr marL="0" lvl="0" indent="0"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2026年5月25日</a:t>
            </a:r>
            <a:endParaRPr lang="en-US" altLang="zh-CN" sz="2400" b="1" u="sng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149" name="图片 100"/>
          <p:cNvPicPr/>
          <p:nvPr/>
        </p:nvPicPr>
        <p:blipFill>
          <a:blip r:embed="rId5"/>
          <a:stretch>
            <a:fillRect/>
          </a:stretch>
        </p:blipFill>
        <p:spPr>
          <a:xfrm>
            <a:off x="2911475" y="3651250"/>
            <a:ext cx="860425" cy="766763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形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31300" y="0"/>
            <a:ext cx="3067050" cy="169386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194304" name="表格 2"/>
          <p:cNvGraphicFramePr/>
          <p:nvPr>
            <p:custDataLst>
              <p:tags r:id="rId3"/>
            </p:custDataLst>
          </p:nvPr>
        </p:nvGraphicFramePr>
        <p:xfrm>
          <a:off x="-1270" y="475615"/>
          <a:ext cx="12193270" cy="2047875"/>
        </p:xfrm>
        <a:graphic>
          <a:graphicData uri="http://schemas.openxmlformats.org/drawingml/2006/table">
            <a:tbl>
              <a:tblPr firstRow="1" lastRow="1">
                <a:tableStyleId>{77D5D866-21FD-475E-8EC7-EAEDDA05492D}</a:tableStyleId>
              </a:tblPr>
              <a:tblGrid>
                <a:gridCol w="922655"/>
                <a:gridCol w="974090"/>
                <a:gridCol w="2196465"/>
                <a:gridCol w="1962785"/>
                <a:gridCol w="4176395"/>
                <a:gridCol w="1960880"/>
              </a:tblGrid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姓名</a:t>
                      </a:r>
                      <a:endParaRPr lang="zh-CN" sz="14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8" marR="91448" marT="45714" marB="4571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提交时间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8" marR="91448" marT="45714" marB="4571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格式要求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8" marR="91448" marT="45714" marB="4571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内容复核情况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8" marR="91448" marT="45714" marB="4571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重点工作完成情况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8" marR="91448" marT="45714" marB="4571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备注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8" marR="91448" marT="45714" marB="4571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3075">
                <a:tc>
                  <a:txBody>
                    <a:bodyPr/>
                    <a:p>
                      <a:pPr marL="0" marR="0" lvl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刘璇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50" marR="91450" marT="45711" marB="45711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50" marR="91450" marT="45711" marB="45711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t" latinLnBrk="0" hangingPunct="1">
                        <a:lnSpc>
                          <a:spcPct val="100000"/>
                        </a:lnSpc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0" i="0" u="none" strike="noStrike" cap="none" normalizeH="0" baseline="0" dirty="0">
                        <a:solidFill>
                          <a:prstClr val="black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50" marR="91450" marT="45711" marB="45711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400" dirty="0">
                        <a:solidFill>
                          <a:prstClr val="black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endParaRPr>
                    </a:p>
                  </a:txBody>
                  <a:tcPr marL="91450" marR="91450" marT="45711" marB="45711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14303" marR="114303" marT="0" marB="0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p>
                      <a:pPr marL="0" marR="0" lvl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sz="140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sz="140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en-US" altLang="zh-CN" sz="140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40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40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40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en-US" altLang="zh-CN" sz="140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40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40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400"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endParaRPr>
                    </a:p>
                  </a:txBody>
                  <a:tcPr marL="91450" marR="9145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172" name="文本框 4"/>
          <p:cNvSpPr txBox="1"/>
          <p:nvPr>
            <p:custDataLst>
              <p:tags r:id="rId4"/>
            </p:custDataLst>
          </p:nvPr>
        </p:nvSpPr>
        <p:spPr>
          <a:xfrm>
            <a:off x="4292600" y="0"/>
            <a:ext cx="3403600" cy="685800"/>
          </a:xfrm>
          <a:prstGeom prst="rect">
            <a:avLst/>
          </a:prstGeom>
          <a:noFill/>
          <a:ln w="9525">
            <a:noFill/>
          </a:ln>
        </p:spPr>
        <p:txBody>
          <a:bodyPr wrap="none"/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周工作计划复核情况</a:t>
            </a:r>
            <a:endParaRPr lang="zh-CN" altLang="en-US" sz="2800" b="1" dirty="0">
              <a:solidFill>
                <a:srgbClr val="16468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形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0" y="-15875"/>
            <a:ext cx="12204700" cy="52593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219" name="组合 12"/>
          <p:cNvGrpSpPr/>
          <p:nvPr/>
        </p:nvGrpSpPr>
        <p:grpSpPr>
          <a:xfrm>
            <a:off x="5032375" y="3822700"/>
            <a:ext cx="4352925" cy="693738"/>
            <a:chOff x="2852737" y="2279015"/>
            <a:chExt cx="4353560" cy="694055"/>
          </a:xfrm>
        </p:grpSpPr>
        <p:sp>
          <p:nvSpPr>
            <p:cNvPr id="9221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4035742" y="2368550"/>
              <a:ext cx="3170555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●"/>
                <a:defRPr kern="1200" spc="150">
                  <a:solidFill>
                    <a:srgbClr val="595959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0" rtl="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●"/>
                <a:tabLst>
                  <a:tab pos="1609725" algn="l"/>
                </a:tabLst>
                <a:defRPr sz="1600" kern="1200" spc="150">
                  <a:solidFill>
                    <a:srgbClr val="595959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0" rtl="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●"/>
                <a:tabLst>
                  <a:tab pos="1609725" algn="l"/>
                </a:tabLst>
                <a:defRPr sz="1600" kern="1200" spc="150">
                  <a:solidFill>
                    <a:srgbClr val="595959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0" rtl="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tabLst>
                  <a:tab pos="1609725" algn="l"/>
                </a:tabLst>
                <a:defRPr sz="1400" kern="1200" spc="150">
                  <a:solidFill>
                    <a:srgbClr val="595959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0" rtl="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tabLst>
                  <a:tab pos="1609725" algn="l"/>
                </a:tabLst>
                <a:defRPr sz="1400" kern="1200" spc="150">
                  <a:solidFill>
                    <a:srgbClr val="595959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r>
                <a:rPr lang="zh-CN" altLang="en-US" sz="2800" b="1" dirty="0">
                  <a:solidFill>
                    <a:srgbClr val="16468D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微软雅黑" panose="020B0503020204020204" charset="-122"/>
                </a:rPr>
                <a:t>周工作总结</a:t>
              </a:r>
              <a:endParaRPr lang="zh-CN" altLang="en-US" sz="28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  <a:sym typeface="微软雅黑" panose="020B0503020204020204" charset="-122"/>
              </a:endParaRPr>
            </a:p>
          </p:txBody>
        </p:sp>
        <p:grpSp>
          <p:nvGrpSpPr>
            <p:cNvPr id="9222" name="组合 14"/>
            <p:cNvGrpSpPr/>
            <p:nvPr/>
          </p:nvGrpSpPr>
          <p:grpSpPr>
            <a:xfrm>
              <a:off x="2852737" y="2279015"/>
              <a:ext cx="751943" cy="694055"/>
              <a:chOff x="2609850" y="1983740"/>
              <a:chExt cx="751943" cy="694055"/>
            </a:xfrm>
          </p:grpSpPr>
          <p:sp>
            <p:nvSpPr>
              <p:cNvPr id="1048611" name="椭圆 17"/>
              <p:cNvSpPr/>
              <p:nvPr>
                <p:custDataLst>
                  <p:tags r:id="rId4"/>
                </p:custDataLst>
              </p:nvPr>
            </p:nvSpPr>
            <p:spPr>
              <a:xfrm>
                <a:off x="2609850" y="1983740"/>
                <a:ext cx="695427" cy="6940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224" name="文本框 1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677898" y="2099945"/>
                <a:ext cx="683895" cy="5778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2286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●"/>
                  <a:defRPr kern="1200" spc="15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0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</a:tabLst>
                  <a:defRPr sz="1600" kern="1200" spc="15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0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</a:tabLst>
                  <a:defRPr sz="1600" kern="1200" spc="15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0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"/>
                  <a:tabLst>
                    <a:tab pos="1609725" algn="l"/>
                  </a:tabLst>
                  <a:defRPr sz="1400" kern="1200" spc="15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0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1400" kern="1200" spc="15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Aft>
                    <a:spcPct val="0"/>
                  </a:spcAft>
                  <a:buFontTx/>
                  <a:buNone/>
                </a:pPr>
                <a:r>
                  <a:rPr lang="en-US" altLang="zh-CN" sz="2400" b="1" dirty="0">
                    <a:solidFill>
                      <a:schemeClr val="bg1"/>
                    </a:solidFill>
                  </a:rPr>
                  <a:t>01</a:t>
                </a:r>
                <a:endParaRPr lang="en-US" altLang="zh-CN" sz="24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9220" name="文本框 1"/>
          <p:cNvSpPr txBox="1"/>
          <p:nvPr/>
        </p:nvSpPr>
        <p:spPr>
          <a:xfrm>
            <a:off x="13263563" y="844550"/>
            <a:ext cx="4064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458" name="图形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31300" y="0"/>
            <a:ext cx="3067050" cy="1693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9" name="文本框 4"/>
          <p:cNvSpPr txBox="1"/>
          <p:nvPr>
            <p:custDataLst>
              <p:tags r:id="rId3"/>
            </p:custDataLst>
          </p:nvPr>
        </p:nvSpPr>
        <p:spPr>
          <a:xfrm>
            <a:off x="720725" y="69850"/>
            <a:ext cx="232727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上周工作总结</a:t>
            </a:r>
            <a:endParaRPr lang="zh-CN" altLang="en-US" sz="2800" b="1" dirty="0">
              <a:solidFill>
                <a:srgbClr val="16468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9460" name="图片 6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2400" y="57150"/>
            <a:ext cx="615950" cy="53816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" name="表格 2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-1270" y="594995"/>
          <a:ext cx="12194540" cy="6278880"/>
        </p:xfrm>
        <a:graphic>
          <a:graphicData uri="http://schemas.openxmlformats.org/drawingml/2006/table">
            <a:tbl>
              <a:tblPr firstRow="1" lastRow="1">
                <a:tableStyleId>{77D5D866-21FD-475E-8EC7-EAEDDA05492D}</a:tableStyleId>
              </a:tblPr>
              <a:tblGrid>
                <a:gridCol w="208915"/>
                <a:gridCol w="240030"/>
                <a:gridCol w="1252855"/>
                <a:gridCol w="1319530"/>
                <a:gridCol w="1445260"/>
                <a:gridCol w="499110"/>
                <a:gridCol w="1166495"/>
                <a:gridCol w="629285"/>
                <a:gridCol w="488950"/>
                <a:gridCol w="989965"/>
                <a:gridCol w="766445"/>
                <a:gridCol w="619125"/>
                <a:gridCol w="1315085"/>
                <a:gridCol w="579755"/>
                <a:gridCol w="673735"/>
              </a:tblGrid>
              <a:tr h="594360"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模块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类别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任务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1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级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任务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任务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责任人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上周交付材料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上周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完成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情况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上周实际用时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未完成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原因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整改措施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风险说明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总体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交付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材料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总体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完成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情况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计划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完成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时间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9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altLang="en-US" sz="11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highlight>
                          <a:srgbClr val="FF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2000"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 dirty="0">
                        <a:highlight>
                          <a:srgbClr val="FF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en-US" alt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2000"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en-US" alt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2000"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 dirty="0">
                        <a:highlight>
                          <a:srgbClr val="FF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2000"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en-US" altLang="zh-CN"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2000"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marL="12700" marR="12700" marT="127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9080">
                <a:tc gridSpan="15">
                  <a:txBody>
                    <a:bodyPr/>
                    <a:lstStyle>
                      <a:defPPr>
                        <a:defRPr lang="zh-CN">
                          <a:solidFill>
                            <a:prstClr val="black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>
                        <a:buNone/>
                      </a:pPr>
                      <a:r>
                        <a:rPr lang="zh-CN" altLang="en-US" sz="1100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>说明：</a:t>
                      </a:r>
                      <a:r>
                        <a:rPr lang="en-US" altLang="zh-CN" sz="1100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>1</a:t>
                      </a:r>
                      <a:r>
                        <a:rPr lang="zh-CN" altLang="en-US" sz="1100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>、完成情况分已完成和未完成；</a:t>
                      </a:r>
                      <a:r>
                        <a:rPr lang="en-US" altLang="zh-CN" sz="1100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>2</a:t>
                      </a:r>
                      <a:r>
                        <a:rPr lang="zh-CN" altLang="en-US" sz="1100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>、风险等级按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>绿色</a:t>
                      </a:r>
                      <a:r>
                        <a:rPr lang="zh-CN" altLang="en-US" sz="1100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>、</a:t>
                      </a:r>
                      <a:r>
                        <a:rPr lang="zh-CN" altLang="en-US" sz="1100" dirty="0">
                          <a:highlight>
                            <a:srgbClr val="FFFF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>黄色</a:t>
                      </a:r>
                      <a:r>
                        <a:rPr lang="zh-CN" altLang="en-US" sz="1100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>、</a:t>
                      </a:r>
                      <a:r>
                        <a:rPr lang="zh-CN" altLang="en-US" sz="1100" dirty="0">
                          <a:highlight>
                            <a:srgbClr val="FF00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>红色</a:t>
                      </a:r>
                      <a:r>
                        <a:rPr lang="zh-CN" altLang="en-US" sz="1100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>依次递增。</a:t>
                      </a:r>
                      <a:endParaRPr lang="en-US" altLang="zh-CN" sz="1100" b="0" dirty="0">
                        <a:latin typeface="楷体" panose="02010609060101010101" pitchFamily="49" charset="-122"/>
                        <a:ea typeface="楷体" panose="02010609060101010101" pitchFamily="49" charset="-122"/>
                        <a:sym typeface="微软雅黑" panose="020B0503020204020204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/>
                </a:tc>
                <a:tc h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形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0" y="-15875"/>
            <a:ext cx="12204700" cy="52593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23" name="组合 3"/>
          <p:cNvGrpSpPr/>
          <p:nvPr/>
        </p:nvGrpSpPr>
        <p:grpSpPr>
          <a:xfrm>
            <a:off x="5000625" y="3992563"/>
            <a:ext cx="4424363" cy="695325"/>
            <a:chOff x="2852737" y="2279015"/>
            <a:chExt cx="4424680" cy="694055"/>
          </a:xfrm>
        </p:grpSpPr>
        <p:sp>
          <p:nvSpPr>
            <p:cNvPr id="30724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4106862" y="2368550"/>
              <a:ext cx="3170555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●"/>
                <a:defRPr kern="1200" spc="150">
                  <a:solidFill>
                    <a:srgbClr val="595959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0" rtl="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●"/>
                <a:tabLst>
                  <a:tab pos="1609725" algn="l"/>
                </a:tabLst>
                <a:defRPr sz="1600" kern="1200" spc="150">
                  <a:solidFill>
                    <a:srgbClr val="595959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0" rtl="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●"/>
                <a:tabLst>
                  <a:tab pos="1609725" algn="l"/>
                </a:tabLst>
                <a:defRPr sz="1600" kern="1200" spc="150">
                  <a:solidFill>
                    <a:srgbClr val="595959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0" rtl="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tabLst>
                  <a:tab pos="1609725" algn="l"/>
                </a:tabLst>
                <a:defRPr sz="1400" kern="1200" spc="150">
                  <a:solidFill>
                    <a:srgbClr val="595959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0" rtl="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tabLst>
                  <a:tab pos="1609725" algn="l"/>
                </a:tabLst>
                <a:defRPr sz="1400" kern="1200" spc="150">
                  <a:solidFill>
                    <a:srgbClr val="595959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r>
                <a:rPr lang="zh-CN" altLang="en-US" sz="2800" b="1" dirty="0">
                  <a:solidFill>
                    <a:srgbClr val="16468D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微软雅黑" panose="020B0503020204020204" charset="-122"/>
                </a:rPr>
                <a:t>本周工作计划</a:t>
              </a:r>
              <a:endParaRPr lang="zh-CN" altLang="en-US" sz="28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  <a:sym typeface="微软雅黑" panose="020B0503020204020204" charset="-122"/>
              </a:endParaRPr>
            </a:p>
          </p:txBody>
        </p:sp>
        <p:grpSp>
          <p:nvGrpSpPr>
            <p:cNvPr id="30725" name="组合 6"/>
            <p:cNvGrpSpPr/>
            <p:nvPr/>
          </p:nvGrpSpPr>
          <p:grpSpPr>
            <a:xfrm>
              <a:off x="2852737" y="2279015"/>
              <a:ext cx="751943" cy="694055"/>
              <a:chOff x="2609850" y="1983740"/>
              <a:chExt cx="751943" cy="694055"/>
            </a:xfrm>
          </p:grpSpPr>
          <p:sp>
            <p:nvSpPr>
              <p:cNvPr id="1048640" name="椭圆 7"/>
              <p:cNvSpPr/>
              <p:nvPr>
                <p:custDataLst>
                  <p:tags r:id="rId4"/>
                </p:custDataLst>
              </p:nvPr>
            </p:nvSpPr>
            <p:spPr>
              <a:xfrm>
                <a:off x="2609850" y="1983740"/>
                <a:ext cx="695375" cy="6940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727" name="文本框 1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677898" y="2099945"/>
                <a:ext cx="683895" cy="5778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2286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●"/>
                  <a:defRPr kern="1200" spc="15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0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</a:tabLst>
                  <a:defRPr sz="1600" kern="1200" spc="15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0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</a:tabLst>
                  <a:defRPr sz="1600" kern="1200" spc="15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0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"/>
                  <a:tabLst>
                    <a:tab pos="1609725" algn="l"/>
                  </a:tabLst>
                  <a:defRPr sz="1400" kern="1200" spc="15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0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1400" kern="1200" spc="15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Aft>
                    <a:spcPct val="0"/>
                  </a:spcAft>
                  <a:buFontTx/>
                  <a:buNone/>
                </a:pPr>
                <a:r>
                  <a:rPr lang="en-US" altLang="zh-CN" sz="2400" b="1" dirty="0">
                    <a:solidFill>
                      <a:schemeClr val="bg1"/>
                    </a:solidFill>
                  </a:rPr>
                  <a:t>02</a:t>
                </a:r>
                <a:endParaRPr lang="en-US" altLang="zh-CN" sz="24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010" name="图形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31300" y="0"/>
            <a:ext cx="3067050" cy="1693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1" name="文本框 4"/>
          <p:cNvSpPr txBox="1"/>
          <p:nvPr>
            <p:custDataLst>
              <p:tags r:id="rId3"/>
            </p:custDataLst>
          </p:nvPr>
        </p:nvSpPr>
        <p:spPr>
          <a:xfrm>
            <a:off x="738188" y="96838"/>
            <a:ext cx="2328862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本周工作计划</a:t>
            </a:r>
            <a:endParaRPr lang="zh-CN" altLang="en-US" sz="2800" b="1" dirty="0">
              <a:solidFill>
                <a:srgbClr val="16468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3012" name="图片 6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4463" y="84138"/>
            <a:ext cx="614362" cy="538162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" name="表格 2"/>
          <p:cNvGraphicFramePr/>
          <p:nvPr>
            <p:custDataLst>
              <p:tags r:id="rId6"/>
            </p:custDataLst>
          </p:nvPr>
        </p:nvGraphicFramePr>
        <p:xfrm>
          <a:off x="3175" y="642611"/>
          <a:ext cx="12195175" cy="5149850"/>
        </p:xfrm>
        <a:graphic>
          <a:graphicData uri="http://schemas.openxmlformats.org/drawingml/2006/table">
            <a:tbl>
              <a:tblPr firstRow="1" lastRow="1">
                <a:tableStyleId>{77D5D866-21FD-475E-8EC7-EAEDDA05492D}</a:tableStyleId>
              </a:tblPr>
              <a:tblGrid>
                <a:gridCol w="254238"/>
                <a:gridCol w="294646"/>
                <a:gridCol w="1482090"/>
                <a:gridCol w="1497965"/>
                <a:gridCol w="1565635"/>
                <a:gridCol w="575930"/>
                <a:gridCol w="1445895"/>
                <a:gridCol w="551218"/>
                <a:gridCol w="600482"/>
                <a:gridCol w="426085"/>
                <a:gridCol w="1456055"/>
                <a:gridCol w="701675"/>
                <a:gridCol w="627380"/>
                <a:gridCol w="715881"/>
              </a:tblGrid>
              <a:tr h="594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模块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类别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任务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任务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任务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责任人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交付物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本周计划用时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计划开始时间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执行期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最终目标交付物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最终计划完成时间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工作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优先级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需协调的资源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5659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B0503020204020204" charset="-122"/>
                        </a:rPr>
                        <a:t/>
                      </a:r>
                      <a:endParaRPr lang="zh-CN" altLang="en-US" sz="1100" dirty="0">
                        <a:latin typeface="楷体" panose="02010609060101010101" pitchFamily="49" charset="-122"/>
                        <a:ea typeface="楷体" panose="02010609060101010101" pitchFamily="49" charset="-122"/>
                        <a:sym typeface="微软雅黑" panose="020B0503020204020204" charset="-122"/>
                      </a:endParaRPr>
                    </a:p>
                  </a:txBody>
                  <a:tcPr marL="91443" marR="91443" marT="45719" marB="45719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 sz="1100"/>
                      </a:pPr>
                      <a:r>
                        <a:rPr lang="en-US" altLang="zh-CN" dirty="0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en-US" altLang="zh-CN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610"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B0503020204020204" charset="-122"/>
                        </a:rPr>
                        <a:t/>
                      </a:r>
                      <a:endParaRPr lang="zh-CN" altLang="en-US" sz="1100" dirty="0">
                        <a:latin typeface="楷体" panose="02010609060101010101" pitchFamily="49" charset="-122"/>
                        <a:ea typeface="楷体" panose="02010609060101010101" pitchFamily="49" charset="-122"/>
                        <a:sym typeface="微软雅黑" panose="020B0503020204020204" charset="-122"/>
                      </a:endParaRPr>
                    </a:p>
                  </a:txBody>
                  <a:tcPr marL="91443" marR="91443" marT="45719" marB="45719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en-US" alt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endParaRPr lang="en-US" alt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 sz="1100"/>
                      </a:pPr>
                      <a:r>
                        <a:rPr lang="en-US" altLang="zh-CN" dirty="0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en-US" altLang="zh-CN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610"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marL="91443" marR="91443" marT="45719" marB="45719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endParaRPr lang="en-US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endParaRPr lang="en-US" alt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 sz="1100"/>
                      </a:pPr>
                      <a:r>
                        <a:rPr lang="en-US" altLang="zh-CN" dirty="0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en-US" altLang="zh-CN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endParaRPr lang="en-US" alt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marL="91443" marR="91443" marT="45719" marB="45719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 sz="1100"/>
                      </a:pPr>
                      <a:r>
                        <a:rPr lang="en-US" altLang="zh-CN" dirty="0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en-US" altLang="zh-CN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marL="91443" marR="91443" marT="45719" marB="45719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B0503020204020204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sym typeface="微软雅黑" panose="020B0503020204020204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endParaRPr lang="en-US" alt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 sz="1100"/>
                      </a:pPr>
                      <a:r>
                        <a:rPr lang="en-US" altLang="zh-CN" dirty="0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en-US" altLang="zh-CN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marL="91443" marR="91443" marT="45719" marB="45719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endParaRPr lang="en-US" alt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 sz="1100"/>
                      </a:pPr>
                      <a:r>
                        <a:rPr lang="en-US" altLang="zh-CN" dirty="0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en-US" altLang="zh-CN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</a:p>
                  </a:txBody>
                  <a:tcPr marL="91443" marR="91443" marT="45719" marB="45719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  <a:defRPr sz="1100"/>
                      </a:pPr>
                      <a:r>
                        <a:rPr lang="en-US" altLang="zh-CN" dirty="0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en-US" altLang="zh-CN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 gridSpan="1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说明：工作优先级分为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重要紧急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、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重要不紧急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、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不重要紧急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、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不重要不紧急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。</a:t>
                      </a:r>
                      <a:endParaRPr lang="zh-CN" altLang="en-US" sz="1100" b="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/>
                </a:tc>
                <a:tc hMerge="1"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/>
                </a:tc>
                <a:tc hMerge="1">
                  <a:tcPr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图形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985" y="-15240"/>
            <a:ext cx="12205970" cy="5259070"/>
          </a:xfrm>
          <a:prstGeom prst="rect">
            <a:avLst/>
          </a:prstGeom>
        </p:spPr>
      </p:pic>
      <p:grpSp>
        <p:nvGrpSpPr>
          <p:cNvPr id="27" name="组合 3"/>
          <p:cNvGrpSpPr/>
          <p:nvPr>
            <p:custDataLst>
              <p:tags r:id="rId3"/>
            </p:custDataLst>
          </p:nvPr>
        </p:nvGrpSpPr>
        <p:grpSpPr>
          <a:xfrm>
            <a:off x="5000307" y="3993198"/>
            <a:ext cx="4784725" cy="694055"/>
            <a:chOff x="2852737" y="2279015"/>
            <a:chExt cx="4784725" cy="694055"/>
          </a:xfrm>
        </p:grpSpPr>
        <p:sp>
          <p:nvSpPr>
            <p:cNvPr id="1048588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4106862" y="2368550"/>
              <a:ext cx="3530600" cy="46037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</a:pPr>
              <a:r>
                <a:rPr lang="zh-CN" altLang="en-US" sz="2800" b="1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微软雅黑" panose="020B0503020204020204" charset="-122"/>
                  <a:sym typeface="+mn-ea"/>
                </a:rPr>
                <a:t>未启动</a:t>
              </a:r>
              <a:r>
                <a:rPr lang="en-US" altLang="zh-CN" sz="2800" b="1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微软雅黑" panose="020B0503020204020204" charset="-122"/>
                  <a:sym typeface="+mn-ea"/>
                </a:rPr>
                <a:t>/</a:t>
              </a:r>
              <a:r>
                <a:rPr lang="zh-CN" altLang="en-US" sz="2800" b="1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微软雅黑" panose="020B0503020204020204" charset="-122"/>
                  <a:sym typeface="+mn-ea"/>
                </a:rPr>
                <a:t>中止工作汇总</a:t>
              </a:r>
              <a:endParaRPr lang="zh-CN" altLang="en-US" sz="2800" b="1" dirty="0">
                <a:solidFill>
                  <a:schemeClr val="accent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28" name="组合 6"/>
            <p:cNvGrpSpPr/>
            <p:nvPr/>
          </p:nvGrpSpPr>
          <p:grpSpPr>
            <a:xfrm>
              <a:off x="2852737" y="2279015"/>
              <a:ext cx="751943" cy="694055"/>
              <a:chOff x="2609850" y="1983740"/>
              <a:chExt cx="751943" cy="694055"/>
            </a:xfrm>
          </p:grpSpPr>
          <p:sp>
            <p:nvSpPr>
              <p:cNvPr id="1048589" name="椭圆 7"/>
              <p:cNvSpPr/>
              <p:nvPr>
                <p:custDataLst>
                  <p:tags r:id="rId5"/>
                </p:custDataLst>
              </p:nvPr>
            </p:nvSpPr>
            <p:spPr>
              <a:xfrm>
                <a:off x="2609850" y="1983740"/>
                <a:ext cx="694055" cy="6940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endParaRPr lang="zh-CN" altLang="en-US" sz="18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048590" name="文本框 1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677898" y="2099945"/>
                <a:ext cx="683895" cy="577850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03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</p:grpSp>
    </p:spTree>
    <p:custDataLst>
      <p:tags r:id="rId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8370" name="图形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31300" y="0"/>
            <a:ext cx="3067050" cy="1693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1" name="文本框 4"/>
          <p:cNvSpPr txBox="1"/>
          <p:nvPr>
            <p:custDataLst>
              <p:tags r:id="rId3"/>
            </p:custDataLst>
          </p:nvPr>
        </p:nvSpPr>
        <p:spPr>
          <a:xfrm>
            <a:off x="738188" y="96838"/>
            <a:ext cx="2798762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  <a:sym typeface="微软雅黑" panose="020B0503020204020204" charset="-122"/>
              </a:rPr>
              <a:t>未启动</a:t>
            </a:r>
            <a:r>
              <a:rPr lang="en-US" altLang="zh-CN" sz="28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  <a:sym typeface="微软雅黑" panose="020B0503020204020204" charset="-122"/>
              </a:rPr>
              <a:t>/</a:t>
            </a:r>
            <a:r>
              <a:rPr lang="zh-CN" altLang="en-US" sz="28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  <a:sym typeface="微软雅黑" panose="020B0503020204020204" charset="-122"/>
              </a:rPr>
              <a:t>中止工作</a:t>
            </a:r>
            <a:endParaRPr lang="zh-CN" altLang="en-US" sz="2800" b="1" dirty="0">
              <a:solidFill>
                <a:srgbClr val="16468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8372" name="图片 6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4463" y="84138"/>
            <a:ext cx="614362" cy="538162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" name="表格 2"/>
          <p:cNvGraphicFramePr/>
          <p:nvPr>
            <p:custDataLst>
              <p:tags r:id="rId6"/>
            </p:custDataLst>
          </p:nvPr>
        </p:nvGraphicFramePr>
        <p:xfrm>
          <a:off x="0" y="679441"/>
          <a:ext cx="12147550" cy="1457326"/>
        </p:xfrm>
        <a:graphic>
          <a:graphicData uri="http://schemas.openxmlformats.org/drawingml/2006/table">
            <a:tbl>
              <a:tblPr firstRow="1" lastRow="1">
                <a:tableStyleId>{77D5D866-21FD-475E-8EC7-EAEDDA05492D}</a:tableStyleId>
              </a:tblPr>
              <a:tblGrid>
                <a:gridCol w="237458"/>
                <a:gridCol w="266032"/>
                <a:gridCol w="1331350"/>
                <a:gridCol w="1461518"/>
                <a:gridCol w="1511969"/>
                <a:gridCol w="487913"/>
                <a:gridCol w="1455831"/>
                <a:gridCol w="598307"/>
                <a:gridCol w="516103"/>
                <a:gridCol w="516104"/>
                <a:gridCol w="1626506"/>
                <a:gridCol w="681607"/>
                <a:gridCol w="778893"/>
                <a:gridCol w="677959"/>
              </a:tblGrid>
              <a:tr h="594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模块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类别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任务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任务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任务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责任人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交付物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本周计划用时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计划开始时间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执行期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最终目标交付物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最终计划完成时间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工作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优先级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需协调的资源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100" b="1">
                          <a:ea typeface="楷体"/>
                          <a:latin typeface="楷体"/>
                        </a:rPr>
                        <a:t/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endParaRPr lang="en-US" altLang="zh-CN" sz="11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</a:rPr>
                        <a:t/>
                      </a: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en-US" altLang="zh-CN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/>
                      </a:r>
                      <a:endParaRPr lang="zh-CN" altLang="en-US" sz="1100" dirty="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100">
                          <a:ea typeface="楷体"/>
                          <a:latin typeface="楷体"/>
                        </a:rPr>
                        <a:t/>
                      </a:r>
                      <a:endParaRPr lang="zh-CN" altLang="en-US" sz="11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100">
                          <a:latin typeface="楷体" panose="02010609060101010101" pitchFamily="49" charset="-122"/>
                          <a:ea typeface="楷体" panose="02010609060101010101" pitchFamily="49" charset="-122"/>
                          <a:ea typeface="楷体"/>
                        </a:rPr>
                        <a:t/>
                      </a:r>
                      <a:endParaRPr lang="en-US" altLang="zh-CN" sz="1100"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8606">
                <a:tc gridSpan="1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说明：工作优先级分为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重要紧急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、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重要不紧急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、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不重要紧急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、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不重要不紧急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。</a:t>
                      </a:r>
                      <a:endParaRPr lang="zh-CN" altLang="en-US" sz="1100" b="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91443" marR="91443" marT="45719" marB="4571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/>
                </a:tc>
                <a:tc hMerge="1"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/>
                </a:tc>
                <a:tc hMerge="1">
                  <a:tcPr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文本框 178"/>
          <p:cNvSpPr txBox="1"/>
          <p:nvPr>
            <p:custDataLst>
              <p:tags r:id="rId1"/>
            </p:custDataLst>
          </p:nvPr>
        </p:nvSpPr>
        <p:spPr>
          <a:xfrm>
            <a:off x="1328738" y="4119563"/>
            <a:ext cx="3763962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zh-CN" sz="4800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THANK YOU!</a:t>
            </a:r>
            <a:endParaRPr lang="en-US" altLang="zh-CN" sz="4800" dirty="0">
              <a:solidFill>
                <a:srgbClr val="16468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5539" name="图形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106738" y="1847850"/>
            <a:ext cx="9094787" cy="5019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540" name="图片 103"/>
          <p:cNvPicPr/>
          <p:nvPr/>
        </p:nvPicPr>
        <p:blipFill>
          <a:blip r:embed="rId4"/>
          <a:stretch>
            <a:fillRect/>
          </a:stretch>
        </p:blipFill>
        <p:spPr>
          <a:xfrm>
            <a:off x="319088" y="2846388"/>
            <a:ext cx="955675" cy="8556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41" name="文本框 1"/>
          <p:cNvSpPr txBox="1"/>
          <p:nvPr/>
        </p:nvSpPr>
        <p:spPr>
          <a:xfrm>
            <a:off x="1308100" y="2846388"/>
            <a:ext cx="6740525" cy="742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400" kern="1200" spc="15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zh-CN" altLang="en-US" sz="4800" b="1" dirty="0">
                <a:solidFill>
                  <a:srgbClr val="16468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广东省人智研究院</a:t>
            </a:r>
            <a:endParaRPr lang="zh-CN" altLang="en-US" sz="4800" b="1" dirty="0">
              <a:solidFill>
                <a:srgbClr val="16468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TABLE_ENDDRAG_ORIGIN_RECT" val="960*418"/>
  <p:tag name="TABLE_ENDDRAG_RECT" val="2*37*960*418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6*l_h_a*1_1_1"/>
  <p:tag name="KSO_WM_TEMPLATE_CATEGORY" val="custom"/>
  <p:tag name="KSO_WM_TEMPLATE_INDEX" val="20202601"/>
  <p:tag name="KSO_WM_UNIT_LAYERLEVEL" val="1_1_1"/>
  <p:tag name="KSO_WM_TAG_VERSION" val="1.0"/>
  <p:tag name="KSO_WM_BEAUTIFY_FLAG" val=""/>
  <p:tag name="KSO_WM_UNIT_ISCONTENTSTITLE" val="0"/>
  <p:tag name="KSO_WM_UNIT_PRESET_TEXT" val="添加标题"/>
  <p:tag name="KSO_WM_UNIT_NOCLEAR" val="0"/>
  <p:tag name="KSO_WM_UNIT_VALUE" val="5"/>
  <p:tag name="KSO_WM_DIAGRAM_GROUP_CODE" val="l1-1"/>
  <p:tag name="KSO_WM_UNIT_TYPE" val="l_h_a"/>
  <p:tag name="KSO_WM_UNIT_INDEX" val="1_1_1"/>
  <p:tag name="KSO_WM_UNIT_ISNUMDGMTITLE" val="0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6*l_h_i*1_1_1"/>
  <p:tag name="KSO_WM_TEMPLATE_CATEGORY" val="custom"/>
  <p:tag name="KSO_WM_TEMPLATE_INDEX" val="20202601"/>
  <p:tag name="KSO_WM_UNIT_LAYERLEVEL" val="1_1_1"/>
  <p:tag name="KSO_WM_TAG_VERSION" val="1.0"/>
  <p:tag name="KSO_WM_BEAUTIFY_FLAG" val=""/>
  <p:tag name="KSO_WM_DIAGRAM_GROUP_CODE" val="l1-1"/>
  <p:tag name="KSO_WM_UNIT_TYPE" val="l_h_i"/>
  <p:tag name="KSO_WM_UNIT_INDEX" val="1_1_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6*l_h_i*1_1_2"/>
  <p:tag name="KSO_WM_TEMPLATE_CATEGORY" val="custom"/>
  <p:tag name="KSO_WM_TEMPLATE_INDEX" val="20202601"/>
  <p:tag name="KSO_WM_UNIT_LAYERLEVEL" val="1_1_1"/>
  <p:tag name="KSO_WM_TAG_VERSION" val="1.0"/>
  <p:tag name="KSO_WM_BEAUTIFY_FLAG" val=""/>
  <p:tag name="KSO_WM_DIAGRAM_GROUP_CODE" val="l1-1"/>
  <p:tag name="KSO_WM_UNIT_TYPE" val="l_h_i"/>
  <p:tag name="KSO_WM_UNIT_INDEX" val="1_1_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7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TABLE_ENDDRAG_ORIGIN_RECT" val="960*472"/>
  <p:tag name="TABLE_ENDDRAG_RECT" val="0*46*960*472"/>
</p:tagLst>
</file>

<file path=ppt/tags/tag80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6*l_h_a*1_1_1"/>
  <p:tag name="KSO_WM_TEMPLATE_CATEGORY" val="custom"/>
  <p:tag name="KSO_WM_TEMPLATE_INDEX" val="20202601"/>
  <p:tag name="KSO_WM_UNIT_LAYERLEVEL" val="1_1_1"/>
  <p:tag name="KSO_WM_TAG_VERSION" val="1.0"/>
  <p:tag name="KSO_WM_BEAUTIFY_FLAG" val=""/>
  <p:tag name="KSO_WM_UNIT_ISCONTENTSTITLE" val="0"/>
  <p:tag name="KSO_WM_UNIT_PRESET_TEXT" val="添加标题"/>
  <p:tag name="KSO_WM_UNIT_NOCLEAR" val="0"/>
  <p:tag name="KSO_WM_UNIT_VALUE" val="5"/>
  <p:tag name="KSO_WM_DIAGRAM_GROUP_CODE" val="l1-1"/>
  <p:tag name="KSO_WM_UNIT_TYPE" val="l_h_a"/>
  <p:tag name="KSO_WM_UNIT_INDEX" val="1_1_1"/>
  <p:tag name="KSO_WM_UNIT_ISNUMDGMTITLE" val="0"/>
  <p:tag name="KSO_WM_UNIT_TEXT_FILL_FORE_SCHEMECOLOR_INDEX_BRIGHTNESS" val="0"/>
  <p:tag name="KSO_WM_UNIT_TEXT_FILL_FORE_SCHEMECOLOR_INDEX" val="5"/>
  <p:tag name="KSO_WM_UNIT_TEXT_FILL_TYPE" val="1"/>
  <p:tag name="KSO_WM_UNIT_USESOURCEFORMAT_APPLY" val="1"/>
  <p:tag name="KSO_WM_DIAGRAM_VIRTUALLY_FRAME" val="{&quot;height&quot;:134.05000000000004,&quot;left&quot;:393.72496062992127,&quot;top&quot;:235.02503937007873,&quot;width&quot;:348.4}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6*l_h_i*1_1_1"/>
  <p:tag name="KSO_WM_TEMPLATE_CATEGORY" val="custom"/>
  <p:tag name="KSO_WM_TEMPLATE_INDEX" val="20202601"/>
  <p:tag name="KSO_WM_UNIT_LAYERLEVEL" val="1_1_1"/>
  <p:tag name="KSO_WM_TAG_VERSION" val="1.0"/>
  <p:tag name="KSO_WM_BEAUTIFY_FLAG" val=""/>
  <p:tag name="KSO_WM_DIAGRAM_GROUP_CODE" val="l1-1"/>
  <p:tag name="KSO_WM_UNIT_TYPE" val="l_h_i"/>
  <p:tag name="KSO_WM_UNIT_INDEX" val="1_1_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5"/>
  <p:tag name="KSO_WM_UNIT_TEXT_FILL_TYPE" val="1"/>
  <p:tag name="KSO_WM_UNIT_USESOURCEFORMAT_APPLY" val="1"/>
  <p:tag name="KSO_WM_DIAGRAM_VIRTUALLY_FRAME" val="{&quot;height&quot;:134.05000000000004,&quot;left&quot;:393.72496062992127,&quot;top&quot;:235.02503937007873,&quot;width&quot;:348.4}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6*l_h_i*1_1_2"/>
  <p:tag name="KSO_WM_TEMPLATE_CATEGORY" val="custom"/>
  <p:tag name="KSO_WM_TEMPLATE_INDEX" val="20202601"/>
  <p:tag name="KSO_WM_UNIT_LAYERLEVEL" val="1_1_1"/>
  <p:tag name="KSO_WM_TAG_VERSION" val="1.0"/>
  <p:tag name="KSO_WM_BEAUTIFY_FLAG" val=""/>
  <p:tag name="KSO_WM_DIAGRAM_GROUP_CODE" val="l1-1"/>
  <p:tag name="KSO_WM_UNIT_TYPE" val="l_h_i"/>
  <p:tag name="KSO_WM_UNIT_INDEX" val="1_1_2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134.05000000000004,&quot;left&quot;:393.72496062992127,&quot;top&quot;:235.02503937007873,&quot;width&quot;:348.4}"/>
</p:tagLst>
</file>

<file path=ppt/tags/tag8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6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DIAGRAM_GROUP_CODE" val="l1-1"/>
  <p:tag name="KSO_WM_UNIT_TYPE" val="i"/>
  <p:tag name="KSO_WM_UNIT_INDEX" val="1"/>
  <p:tag name="KSO_WM_UNIT_USESOURCEFORMAT_APPLY" val="1"/>
  <p:tag name="KSO_WM_DIAGRAM_VIRTUALLY_FRAME" val="{&quot;height&quot;:134.05000000000004,&quot;left&quot;:393.72496062992127,&quot;top&quot;:235.02503937007873,&quot;width&quot;:348.4}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6*l_h_a*1_1_1"/>
  <p:tag name="KSO_WM_TEMPLATE_CATEGORY" val="custom"/>
  <p:tag name="KSO_WM_TEMPLATE_INDEX" val="20202601"/>
  <p:tag name="KSO_WM_UNIT_LAYERLEVEL" val="1_1_1"/>
  <p:tag name="KSO_WM_TAG_VERSION" val="1.0"/>
  <p:tag name="KSO_WM_BEAUTIFY_FLAG" val=""/>
  <p:tag name="KSO_WM_UNIT_ISCONTENTSTITLE" val="0"/>
  <p:tag name="KSO_WM_UNIT_PRESET_TEXT" val="添加标题"/>
  <p:tag name="KSO_WM_UNIT_NOCLEAR" val="0"/>
  <p:tag name="KSO_WM_UNIT_VALUE" val="5"/>
  <p:tag name="KSO_WM_DIAGRAM_GROUP_CODE" val="l1-1"/>
  <p:tag name="KSO_WM_UNIT_TYPE" val="l_h_a"/>
  <p:tag name="KSO_WM_UNIT_INDEX" val="1_1_1"/>
  <p:tag name="KSO_WM_UNIT_ISNUMDGMTITLE" val="0"/>
  <p:tag name="KSO_WM_UNIT_TEXT_FILL_FORE_SCHEMECOLOR_INDEX_BRIGHTNESS" val="0"/>
  <p:tag name="KSO_WM_UNIT_TEXT_FILL_FORE_SCHEMECOLOR_INDEX" val="5"/>
  <p:tag name="KSO_WM_UNIT_TEXT_FILL_TYPE" val="1"/>
  <p:tag name="KSO_WM_UNIT_USESOURCEFORMAT_APPLY" val="1"/>
  <p:tag name="KSO_WM_DIAGRAM_VIRTUALLY_FRAME" val="{&quot;height&quot;:134.05000000000004,&quot;left&quot;:393.72496062992127,&quot;top&quot;:235.02503937007873,&quot;width&quot;:348.4}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6*l_h_i*1_1_1"/>
  <p:tag name="KSO_WM_TEMPLATE_CATEGORY" val="custom"/>
  <p:tag name="KSO_WM_TEMPLATE_INDEX" val="20202601"/>
  <p:tag name="KSO_WM_UNIT_LAYERLEVEL" val="1_1_1"/>
  <p:tag name="KSO_WM_TAG_VERSION" val="1.0"/>
  <p:tag name="KSO_WM_BEAUTIFY_FLAG" val=""/>
  <p:tag name="KSO_WM_DIAGRAM_GROUP_CODE" val="l1-1"/>
  <p:tag name="KSO_WM_UNIT_TYPE" val="l_h_i"/>
  <p:tag name="KSO_WM_UNIT_INDEX" val="1_1_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5"/>
  <p:tag name="KSO_WM_UNIT_TEXT_FILL_TYPE" val="1"/>
  <p:tag name="KSO_WM_UNIT_USESOURCEFORMAT_APPLY" val="1"/>
  <p:tag name="KSO_WM_DIAGRAM_VIRTUALLY_FRAME" val="{&quot;height&quot;:134.05000000000004,&quot;left&quot;:393.72496062992127,&quot;top&quot;:235.02503937007873,&quot;width&quot;:348.4}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6*l_h_i*1_1_2"/>
  <p:tag name="KSO_WM_TEMPLATE_CATEGORY" val="custom"/>
  <p:tag name="KSO_WM_TEMPLATE_INDEX" val="20202601"/>
  <p:tag name="KSO_WM_UNIT_LAYERLEVEL" val="1_1_1"/>
  <p:tag name="KSO_WM_TAG_VERSION" val="1.0"/>
  <p:tag name="KSO_WM_BEAUTIFY_FLAG" val=""/>
  <p:tag name="KSO_WM_DIAGRAM_GROUP_CODE" val="l1-1"/>
  <p:tag name="KSO_WM_UNIT_TYPE" val="l_h_i"/>
  <p:tag name="KSO_WM_UNIT_INDEX" val="1_1_2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134.05000000000004,&quot;left&quot;:393.72496062992127,&quot;top&quot;:235.02503937007873,&quot;width&quot;:348.4}"/>
</p:tagLst>
</file>

<file path=ppt/tags/tag96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3498</Words>
  <Application>WPS 演示</Application>
  <PresentationFormat>宽屏</PresentationFormat>
  <Paragraphs>582</Paragraphs>
  <Slides>9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Arial</vt:lpstr>
      <vt:lpstr>Noto Sans CJK SC</vt:lpstr>
      <vt:lpstr>楷体</vt:lpstr>
      <vt:lpstr>微软雅黑</vt:lpstr>
      <vt:lpstr>Arial Unicode MS</vt:lpstr>
      <vt:lpstr>Calibri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微信用户</cp:lastModifiedBy>
  <cp:revision>499</cp:revision>
  <dcterms:created xsi:type="dcterms:W3CDTF">2026-05-23T09:54:00Z</dcterms:created>
  <dcterms:modified xsi:type="dcterms:W3CDTF">2026-05-25T06:46:14Z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315C06AC1C1640648CABB10C96925FB9_13</vt:lpwstr>
  </property>
</Properties>
</file>